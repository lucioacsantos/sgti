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</ns0:sldIdLst>
  <ns0:sldSz cx="12192000" cy="6858000" type="screen4x3"/>
  <ns0:notesSz cx="6858000" cy="9144000"/>
  <ns0:embeddedFontLst>
    <ns0:embeddedFont>
      <ns0:font typeface="Plus Jakarta Sans"/>
      <ns0:bold ns1:id="rIdFont23"/>
      <ns0:regular ns1:id="rIdFont24"/>
    </ns0:embeddedFont>
    <ns0:embeddedFont>
      <ns0:font typeface="Space Grotesk"/>
      <ns0:bold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Font23" Type="http://schemas.openxmlformats.org/officeDocument/2006/relationships/font" Target="fonts/e0458a31-26b5-4363-bca2-b24dd8977ad0.fntdata" /><ns0:Relationship Id="rIdFont24" Type="http://schemas.openxmlformats.org/officeDocument/2006/relationships/font" Target="fonts/2416ffc8-cf6e-4e6e-be62-5d6622b67c25.fntdata" /><ns0:Relationship Id="rIdFont25" Type="http://schemas.openxmlformats.org/officeDocument/2006/relationships/font" Target="fonts/0878ba7f-bd2e-4973-8b68-17aecb799b8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741366"/>
            <a:ext cx="6096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11709"/>
            <a:ext cx="171450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392709"/>
            <a:ext cx="11430000" cy="6494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15"/>
              </a:lnSpc>
            </a:pPr>
            <a:r>
              <a:rPr b="1" sz="4650" i="0" u="none">
                <a:solidFill>
                  <a:srgbClr val="FFFFFF"/>
                </a:solidFill>
                <a:latin typeface="Space Grotesk"/>
              </a:rPr>
              <a:t>LUMEN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56495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38BDF8"/>
                </a:solidFill>
                <a:latin typeface="Plus Jakarta Sans"/>
              </a:rPr>
              <a:t>Iluminando a Infraestrutura de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50766"/>
            <a:ext cx="7334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O mapa vivo da nossa tecnologia: descoberto por IA, validado por especialistas e auditado de ponta a ponta.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2016472"/>
            <a:ext cx="4357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59E0B"/>
                </a:solidFill>
                <a:latin typeface="Space Grotesk"/>
              </a:rPr>
              <a:t>SGTI · GERÊNCIA EXECUTIVA · 28/09/2026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4665166"/>
            <a:ext cx="5929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PLATAFORMA CORPORATIVA DE GESTÃO DE CONFIGURAÇÃO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05041" y="1847850"/>
            <a:ext cx="5777358" cy="885825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05041" y="2886075"/>
            <a:ext cx="5777358" cy="885825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05041" y="3924300"/>
            <a:ext cx="5777358" cy="885825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05041" y="4962525"/>
            <a:ext cx="5777358" cy="885825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62100"/>
            <a:ext cx="4814441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62100"/>
            <a:ext cx="4814441" cy="457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166" y="2085975"/>
            <a:ext cx="20002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166" y="3124200"/>
            <a:ext cx="18097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3166" y="4162425"/>
            <a:ext cx="16192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166" y="5200650"/>
            <a:ext cx="13335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CONTEXTO OPERACIONAL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 Desafio Atual: Navegar sem Mapa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3166" y="2047875"/>
            <a:ext cx="6148833" cy="228600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EF4444"/>
                </a:solidFill>
                <a:latin typeface="Plus Jakarta Sans"/>
              </a:rPr>
              <a:t>Navegação às Cegas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3166" y="2314575"/>
            <a:ext cx="614883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Gestão sem visão clara das conexões de infraestrutura.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3166" y="3086100"/>
            <a:ext cx="6148833" cy="22860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Detecção Tardia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3166" y="3352800"/>
            <a:ext cx="614883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Descoberta de impactos após interrupção de serviços.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3166" y="4124325"/>
            <a:ext cx="6148833" cy="228600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6366F1"/>
                </a:solidFill>
                <a:latin typeface="Plus Jakarta Sans"/>
              </a:rPr>
              <a:t>Mudanças Arriscadas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3166" y="4391025"/>
            <a:ext cx="614883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Sistemas críticos afetados por dependências ocultas.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3166" y="5162550"/>
            <a:ext cx="6148833" cy="2286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64748B"/>
                </a:solidFill>
                <a:latin typeface="Plus Jakarta Sans"/>
              </a:rPr>
              <a:t>Planilhas Manuais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3166" y="5429250"/>
            <a:ext cx="614883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Registros descentralizados e permanentemente defasados.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3801"/>
            <a:ext cx="3511599" cy="2184796"/>
          </a:xfrm>
          <a:prstGeom prst="roundRect">
            <a:avLst>
              <a:gd name="adj" fmla="val 52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9799" y="2803326"/>
            <a:ext cx="3492549" cy="2165746"/>
          </a:xfrm>
          <a:prstGeom prst="roundRect">
            <a:avLst>
              <a:gd name="adj" fmla="val 52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0949" y="2793801"/>
            <a:ext cx="3511599" cy="2184796"/>
          </a:xfrm>
          <a:prstGeom prst="roundRect">
            <a:avLst>
              <a:gd name="adj" fmla="val 52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46226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499" y="3146226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174" y="3146226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3270051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037" y="3270051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0999" y="3270051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VISÃO DA SOLUÇÃO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 que é o LUMEN: O Desenho Elétrico da 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793926"/>
            <a:ext cx="3883883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Catálogo Vivo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146351"/>
            <a:ext cx="30543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Inventário contínuo de ativos e serviços técnicos.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6499" y="3793926"/>
            <a:ext cx="3883883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FFFFFF"/>
                </a:solidFill>
                <a:latin typeface="Plus Jakarta Sans"/>
              </a:rPr>
              <a:t>Topologia de Dependências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6499" y="4146351"/>
            <a:ext cx="30543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Rastreio exato antes de intervenções em produção.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7174" y="3793926"/>
            <a:ext cx="38448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Plataforma Auditável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7174" y="4146351"/>
            <a:ext cx="30543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Ambiente seguro integrado com monitoramento Zabbix.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05075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05075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62400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62400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280035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2800350"/>
            <a:ext cx="2190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425767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4257675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CAPACIDADES EM OPERAÇÃO (1/2)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Inventário, Topologia e Automação Segura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2762250"/>
            <a:ext cx="6275784" cy="23812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Inventário Completo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3076575"/>
            <a:ext cx="4876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Servidores físicos, máquinas virtuais, contêineres e IPs primários.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2762250"/>
            <a:ext cx="5686425" cy="238125"/>
          </a:xfrm>
          <a:prstGeom prst="rect">
            <a:avLst/>
          </a:prstGeom>
          <a:noFill/>
        </p:spPr>
        <p:txBody>
          <a:bodyPr wrap="none" lIns="3143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Mapa de 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3076575"/>
            <a:ext cx="4876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Clusters, namespaces, serviços técnicos e relacionamentos tipados.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4219575"/>
            <a:ext cx="6275784" cy="23812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Automação Idempotente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4533900"/>
            <a:ext cx="4876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Gravação sem duplicidade, tokens de serviço e modo dry-run.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4219575"/>
            <a:ext cx="5686425" cy="23812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Auditoria Integral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575" y="4533900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Rastreio de autoria, horário, estado anterior e correlation 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28825"/>
            <a:ext cx="5798194" cy="1171575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71850"/>
            <a:ext cx="5798194" cy="1171575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714875"/>
            <a:ext cx="5798194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694" y="1704975"/>
            <a:ext cx="4831705" cy="428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694" y="1704975"/>
            <a:ext cx="4831705" cy="428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286000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62902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4972050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CAPACIDADES EM OPERAÇÃO (2/2)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Segurança Rigorosa, IA Local e Painel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2247900"/>
            <a:ext cx="6935046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Segurança e Criptografia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2543175"/>
            <a:ext cx="5379094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Autenticação AD + 2FA, AES-256-GCM com crypto-lock e rate limiting.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3590925"/>
            <a:ext cx="6935046" cy="23812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IA Local (Ollama)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3886200"/>
            <a:ext cx="5379094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Assistente RAG com respostas citadas de manuais técnicos internos.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4933950"/>
            <a:ext cx="6935046" cy="23812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Frontend Moderno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5229225"/>
            <a:ext cx="66048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8 abas de infraestrutura, exportação XLSX e perfis de acesso.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495800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81250"/>
            <a:ext cx="3511599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9799" y="2381250"/>
            <a:ext cx="3511599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9999" y="2381250"/>
            <a:ext cx="3492549" cy="1809750"/>
          </a:xfrm>
          <a:prstGeom prst="roundRect">
            <a:avLst>
              <a:gd name="adj" fmla="val 631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82125" y="4738687"/>
            <a:ext cx="188595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74825" y="26574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15025" y="26574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5699" y="26479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791075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NOVIDADE EM HOMOLOGAÇÃO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Reconciliação com Regra de Quatro Olhos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4525" y="4814887"/>
            <a:ext cx="16764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Space Grotesk"/>
              </a:rPr>
              <a:t>HOMOLOGAÇÃO 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1950" y="26574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451" y="3171825"/>
            <a:ext cx="3983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Plus Jakarta Sans"/>
              </a:rPr>
              <a:t>Detecção Automática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306" y="3476625"/>
            <a:ext cx="37941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Identifica ativos sem IP, órfãos e anomalias.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2150" y="26574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3651" y="3171825"/>
            <a:ext cx="3983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Plus Jakarta Sans"/>
              </a:rPr>
              <a:t>Fila de Trabalho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8505" y="3476625"/>
            <a:ext cx="37941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Transforma inconsistências em itens operacionais.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2824" y="264795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4325" y="3162300"/>
            <a:ext cx="3983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FFFFFF"/>
                </a:solidFill>
                <a:latin typeface="Plus Jakarta Sans"/>
              </a:rPr>
              <a:t>Aprovação Dupla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9180" y="3467100"/>
            <a:ext cx="37941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Plus Jakarta Sans"/>
              </a:rPr>
              <a:t>Validação obrigatória por dois analistas.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3025" y="4695825"/>
            <a:ext cx="622577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Status da Suíte Automatizada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3025" y="4943475"/>
            <a:ext cx="592931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87 testes aprovados · Código concluído e pronto para 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74726"/>
            <a:ext cx="5334000" cy="2584846"/>
          </a:xfrm>
          <a:prstGeom prst="roundRect">
            <a:avLst>
              <a:gd name="adj" fmla="val 442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74726"/>
            <a:ext cx="5334000" cy="2584846"/>
          </a:xfrm>
          <a:prstGeom prst="roundRect">
            <a:avLst>
              <a:gd name="adj" fmla="val 442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2025" y="4445198"/>
            <a:ext cx="462915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00825" y="4445198"/>
            <a:ext cx="462915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2025" y="4445198"/>
            <a:ext cx="462915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825" y="4445198"/>
            <a:ext cx="4629150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425" y="2927151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4225" y="2927151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INOVAÇÃO EM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Inferência com Confiabilidade Calibrada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308151"/>
            <a:ext cx="6075759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Validação Humana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736776"/>
            <a:ext cx="47244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Vira tarefa compulsória no painel de reconciliação para 2 analistas.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607123"/>
            <a:ext cx="578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91C1C"/>
                </a:solidFill>
                <a:latin typeface="Plus Jakarta Sans"/>
              </a:rPr>
              <a:t>Zero risco de contaminação da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3308151"/>
            <a:ext cx="559117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Auditoria Automática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3736776"/>
            <a:ext cx="47244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Registrado de forma transparente com pontuação de precisão gravada.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4607123"/>
            <a:ext cx="5591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Plus Jakarta Sans"/>
              </a:rPr>
              <a:t>A IA propõe; especialistas confirmam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2941439"/>
            <a:ext cx="1678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C2626"/>
                </a:solidFill>
                <a:latin typeface="Plus Jakarta Sans"/>
              </a:rPr>
              <a:t>ABAIXO DE 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2941439"/>
            <a:ext cx="178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A PARTIR DE 90%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859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8127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4766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37197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2673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PIONEIRISMO TECNOLÓGICO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Cinco Inovações Exclusivas no LUMEN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943100"/>
            <a:ext cx="5905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838450"/>
            <a:ext cx="5905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733800"/>
            <a:ext cx="5905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629150"/>
            <a:ext cx="5905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5524500"/>
            <a:ext cx="5905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Space Grotesk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3025" y="1847850"/>
            <a:ext cx="108489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CMDB Auto-Descoberto On-Premise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3025" y="2095500"/>
            <a:ext cx="108489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Mapeamento de serviços com modelo local sem custos de nuvem.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3025" y="2743200"/>
            <a:ext cx="108489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Governança Algorítmica Rígida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3025" y="2990850"/>
            <a:ext cx="108489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Regra de quatro olhos imposta no backend, impossível de contornar.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3025" y="3638550"/>
            <a:ext cx="108489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Crypto-Lock em Cython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3025" y="3886200"/>
            <a:ext cx="108489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Segurança nativa vinculada formalmente a nome e CPF do gestor.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3025" y="4533900"/>
            <a:ext cx="108489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Auditoria Total de Decisões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3025" y="4781550"/>
            <a:ext cx="108489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Rastreabilidade idêntica para ações humanas e operações de máquina.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3025" y="5429250"/>
            <a:ext cx="108489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Assistente RAG com Citações Internas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3025" y="5676900"/>
            <a:ext cx="108489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Respostas documentadas exclusivamente nos manuais operacionais da casa.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5340"/>
            <a:ext cx="2600325" cy="2283618"/>
          </a:xfrm>
          <a:prstGeom prst="roundRect">
            <a:avLst>
              <a:gd name="adj" fmla="val 50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725340"/>
            <a:ext cx="2600325" cy="2283618"/>
          </a:xfrm>
          <a:prstGeom prst="roundRect">
            <a:avLst>
              <a:gd name="adj" fmla="val 50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725340"/>
            <a:ext cx="2600325" cy="2283618"/>
          </a:xfrm>
          <a:prstGeom prst="roundRect">
            <a:avLst>
              <a:gd name="adj" fmla="val 50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725340"/>
            <a:ext cx="2600325" cy="2283618"/>
          </a:xfrm>
          <a:prstGeom prst="roundRect">
            <a:avLst>
              <a:gd name="adj" fmla="val 50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3966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03966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03966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03966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DECISÕES DE ENGENHARIA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Vantagens Práticas da Nossa Abordagem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420665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Idempotência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34990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Rotinas automáticas executam continuamente sem duplicar registros.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20665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IA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734990"/>
            <a:ext cx="2219325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Informações confidenciais nunca deixam a rede corporativa.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420665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Regras no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734990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Controle de validação blindado contra burlas na interface.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420665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LDAP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734990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Testes automatizados com autenticação real de produção.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6233"/>
            <a:ext cx="2571750" cy="2281832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726233"/>
            <a:ext cx="2571750" cy="2281832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26233"/>
            <a:ext cx="2571750" cy="2281832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726233"/>
            <a:ext cx="2571750" cy="2281832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RETORNO ESTRATÉGICO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Benefícios Diretos para a Organização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78658"/>
            <a:ext cx="257175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00000"/>
                </a:solidFill>
                <a:latin typeface="Plus Jakarta Sans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621583"/>
            <a:ext cx="27003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Menos Surpresas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935908"/>
            <a:ext cx="21526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Impacto visível antes de aplicar qualquer alteração.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125" y="3078658"/>
            <a:ext cx="257175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00000"/>
                </a:solidFill>
                <a:latin typeface="Plus Jakarta Sans"/>
              </a:rPr>
              <a:t>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7125" y="3621583"/>
            <a:ext cx="27003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Resolução Rápida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7125" y="3935908"/>
            <a:ext cx="21526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Mapa imediato de todos os serviços comprometidos.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3078658"/>
            <a:ext cx="257175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00000"/>
                </a:solidFill>
                <a:latin typeface="Plus Jakarta Sans"/>
              </a:rPr>
              <a:t>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3621583"/>
            <a:ext cx="27003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Fim das Planilhas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3935908"/>
            <a:ext cx="21526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Descoberta automatizada liberando horas técnicas.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7825" y="3078658"/>
            <a:ext cx="257175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00000"/>
                </a:solidFill>
                <a:latin typeface="Plus Jakarta Sans"/>
              </a:rP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7825" y="3621583"/>
            <a:ext cx="27003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Compliance Pleno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7825" y="3935908"/>
            <a:ext cx="21526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Trilha de auditoria e criptografia de nível financeiro.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38325"/>
            <a:ext cx="10972800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95600"/>
            <a:ext cx="10972800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52875"/>
            <a:ext cx="10972800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010150"/>
            <a:ext cx="10972800" cy="885825"/>
          </a:xfrm>
          <a:prstGeom prst="roundRect">
            <a:avLst>
              <a:gd name="adj" fmla="val 1075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48875" y="2133600"/>
            <a:ext cx="1257300" cy="295275"/>
          </a:xfrm>
          <a:prstGeom prst="roundRect">
            <a:avLst>
              <a:gd name="adj" fmla="val 1935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77450" y="3190875"/>
            <a:ext cx="1228725" cy="295275"/>
          </a:xfrm>
          <a:prstGeom prst="roundRect">
            <a:avLst>
              <a:gd name="adj" fmla="val 1935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53625" y="4248150"/>
            <a:ext cx="1352550" cy="295275"/>
          </a:xfrm>
          <a:prstGeom prst="roundRect">
            <a:avLst>
              <a:gd name="adj" fmla="val 1935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420350" y="5305425"/>
            <a:ext cx="885825" cy="295275"/>
          </a:xfrm>
          <a:prstGeom prst="roundRect">
            <a:avLst>
              <a:gd name="adj" fmla="val 1935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Space Grotesk"/>
              </a:rPr>
              <a:t>TRANSPARÊNCIA COM A GERÊNCIA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Pontos de Atenção e Evoluções Planejadas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2225" y="2190750"/>
            <a:ext cx="1085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Plus Jakarta Sans"/>
              </a:rPr>
              <a:t>EM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10800" y="3248025"/>
            <a:ext cx="10572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Plus Jakarta Sans"/>
              </a:rPr>
              <a:t>INTEGRAÇÃO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975" y="4305300"/>
            <a:ext cx="1181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PROGRAMADO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53700" y="5362575"/>
            <a:ext cx="7143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PRONTO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038350"/>
            <a:ext cx="732591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Decisão "Retificar" (Fase 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305050"/>
            <a:ext cx="6977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Hoje valida e sinaliza; a próxima fase executará a correção automática.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095625"/>
            <a:ext cx="7175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Alarmes Zabbix para Reconciliação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362325"/>
            <a:ext cx="6834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Abertura automática de tarefas já arquitetada e prevista no desenho.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152900"/>
            <a:ext cx="72009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Saneamento de Débitos Técnicos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419600"/>
            <a:ext cx="6858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Atualização de datas deprecadas e otimização pontual de consultas.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5210175"/>
            <a:ext cx="71508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66534"/>
                </a:solidFill>
                <a:latin typeface="Plus Jakarta Sans"/>
              </a:rPr>
              <a:t>Commit do Módulo de Reconciliação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5476875"/>
            <a:ext cx="6810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5803D"/>
                </a:solidFill>
                <a:latin typeface="Plus Jakarta Sans"/>
              </a:rPr>
              <a:t>Código completamente testado e pronto para envio ao repositório.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94707"/>
            <a:ext cx="2072580" cy="1944737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4580" y="2894707"/>
            <a:ext cx="2072580" cy="1944737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59560" y="2894707"/>
            <a:ext cx="2072580" cy="1944737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84541" y="2894707"/>
            <a:ext cx="2072580" cy="1944737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521" y="2894707"/>
            <a:ext cx="2072580" cy="1944737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PLANO DE EXECUÇÃO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Próximos Passos Prioritários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558" y="3170932"/>
            <a:ext cx="209066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284C7"/>
                </a:solidFill>
                <a:latin typeface="Space Grotes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292" y="3628132"/>
            <a:ext cx="21951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Commit &amp; Teste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558" y="3923407"/>
            <a:ext cx="2090663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Homologação final da reconciliação.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539" y="3170932"/>
            <a:ext cx="209066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284C7"/>
                </a:solidFill>
                <a:latin typeface="Space Grotes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3272" y="3628132"/>
            <a:ext cx="21951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Piloto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539" y="3923407"/>
            <a:ext cx="2090663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Validação prática com volume em produção.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0519" y="3170932"/>
            <a:ext cx="209066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284C7"/>
                </a:solidFill>
                <a:latin typeface="Space Grotesk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253" y="3628132"/>
            <a:ext cx="21951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Zabbix Direto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0519" y="3923407"/>
            <a:ext cx="2090663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Acionamento automático de inconsistências.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5500" y="3170932"/>
            <a:ext cx="209066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284C7"/>
                </a:solidFill>
                <a:latin typeface="Space Grotesk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233" y="3628132"/>
            <a:ext cx="21951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Correção 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5500" y="3923407"/>
            <a:ext cx="2090663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Remediação automática das inconsistências.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0480" y="3170932"/>
            <a:ext cx="209066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284C7"/>
                </a:solidFill>
                <a:latin typeface="Space Grotesk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8213" y="3628132"/>
            <a:ext cx="21951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Vídeo LUMEN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480" y="3923407"/>
            <a:ext cx="2090663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Apresentação institucional estruturada.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6987"/>
            <a:ext cx="3403550" cy="2600325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566987"/>
            <a:ext cx="3403550" cy="2600325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78700" y="2566987"/>
            <a:ext cx="3403550" cy="2600325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CONFIABILIDADE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Indicadores de Qualidade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062" y="3033712"/>
            <a:ext cx="346862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284C7"/>
                </a:solidFill>
                <a:latin typeface="Space Grotesk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346" y="3948112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Testes Automatizados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062" y="4262437"/>
            <a:ext cx="34686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Cobertura integral de auth, 2FA e reconciliação.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12" y="3033712"/>
            <a:ext cx="346862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Space Grotesk"/>
              </a:rPr>
              <a:t>~99</a:t>
            </a:r>
            <a:r>
              <a:rPr b="1" sz="3000" i="0" u="none">
                <a:solidFill>
                  <a:srgbClr val="0F172A"/>
                </a:solidFill>
                <a:latin typeface="Space Grotesk"/>
              </a:rPr>
              <a:t>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4897" y="3948112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Frontend Otimizado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12" y="4262437"/>
            <a:ext cx="34686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Pacote principal comprimido em gzipped.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6163" y="3033712"/>
            <a:ext cx="346862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Space Grotesk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9447" y="3948112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Auditabilidade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6163" y="4262437"/>
            <a:ext cx="34686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Trilha perpétua de todas as transações.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53100" y="4814887"/>
            <a:ext cx="6858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014537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2166937"/>
            <a:ext cx="2095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125" y="2776537"/>
            <a:ext cx="1095375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b="1" sz="2850" i="0" u="none">
                <a:solidFill>
                  <a:srgbClr val="0F172A"/>
                </a:solidFill>
                <a:latin typeface="Space Grotesk"/>
              </a:rPr>
              <a:t>"Antes de tocar em qualquer coisa, eu sei exatamente onde a energia vai."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0171" y="3910012"/>
            <a:ext cx="563165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284C7"/>
                </a:solidFill>
                <a:latin typeface="Plus Jakarta Sans"/>
              </a:rPr>
              <a:t>LUMEN: O sistema nervoso digital da nossa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90875" y="4291012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Proativo, preciso e construído sob governança irrefutável.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271712"/>
            <a:ext cx="10820400" cy="990600"/>
          </a:xfrm>
          <a:prstGeom prst="roundRect">
            <a:avLst>
              <a:gd name="adj" fmla="val 11538"/>
            </a:avLst>
          </a:prstGeom>
          <a:solidFill>
            <a:srgbClr val="131D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33762"/>
            <a:ext cx="10820400" cy="990600"/>
          </a:xfrm>
          <a:prstGeom prst="roundRect">
            <a:avLst>
              <a:gd name="adj" fmla="val 11538"/>
            </a:avLst>
          </a:prstGeom>
          <a:solidFill>
            <a:srgbClr val="131D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595812"/>
            <a:ext cx="10820400" cy="990600"/>
          </a:xfrm>
          <a:prstGeom prst="roundRect">
            <a:avLst>
              <a:gd name="adj" fmla="val 11538"/>
            </a:avLst>
          </a:prstGeom>
          <a:solidFill>
            <a:srgbClr val="131D2E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71587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APÊNDICE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19237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Space Grotesk"/>
              </a:rPr>
              <a:t>Perguntas Estratégicas Frequentes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75" y="2509837"/>
            <a:ext cx="112109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Por que IA local e não em nuvem?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2805112"/>
            <a:ext cx="112109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Garante sigilo absoluto de dados sensíveis, custo zero de tokens e operação ininterrupta mesmo sem internet.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671887"/>
            <a:ext cx="112109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E se a inteligência artificial cometer um erro?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3967162"/>
            <a:ext cx="112109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Qualquer inferência abaixo de 90% de confiabilidade exige obrigatoriamente a aprovação de 2 analistas.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4833937"/>
            <a:ext cx="112109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Quanto custa a operação contínua do LUMEN?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5129212"/>
            <a:ext cx="112109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"/>
              </a:rPr>
              <a:t>Zero licenças comerciais de software de terceiros: executado integralmente em infraestrutura própria interna.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10132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https://images.stockcake.com/public/3/c/0/3c0ce6ed-9e80-45d7-bcd8-77e4f3c16a5b_medium/blue-server-room-stockcake.jpg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178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stockcake.com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https://media.istockphoto.com/id/2215933676/photo/electronic-quantum-computer-microchip-with-lock-icon-internet-security-and-privacy-network.jpg?s=612x612&amp;w=0&amp;k=20&amp;c=7W6st7sehQtqljoc776ikOwheqvYgh6-Un4BdSpmTQ4=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24075"/>
            <a:ext cx="283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